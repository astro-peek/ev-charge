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8" r:id="rId2"/>
    <p:sldId id="281" r:id="rId3"/>
    <p:sldId id="290" r:id="rId4"/>
    <p:sldId id="293" r:id="rId5"/>
    <p:sldId id="294" r:id="rId6"/>
    <p:sldId id="296" r:id="rId7"/>
  </p:sldIdLst>
  <p:sldSz cx="12192000" cy="6858000"/>
  <p:notesSz cx="7010400" cy="92964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23232"/>
    <a:srgbClr val="9BBB59"/>
    <a:srgbClr val="39B0D4"/>
    <a:srgbClr val="727272"/>
    <a:srgbClr val="010000"/>
    <a:srgbClr val="FFA75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512" y="5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4820"/>
          </a:xfrm>
          <a:prstGeom prst="rect">
            <a:avLst/>
          </a:prstGeom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4/28/2026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vert="horz" lIns="93177" tIns="46589" rIns="93177" bIns="46589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4820"/>
          </a:xfrm>
          <a:prstGeom prst="rect">
            <a:avLst/>
          </a:prstGeom>
        </p:spPr>
        <p:txBody>
          <a:bodyPr vert="horz" wrap="square" lIns="93177" tIns="46589" rIns="93177" bIns="46589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406400" y="696913"/>
            <a:ext cx="61976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406400" y="696913"/>
            <a:ext cx="61976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406400" y="696913"/>
            <a:ext cx="61976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defTabSz="465887">
              <a:defRPr/>
            </a:pPr>
            <a:fld id="{0CA7B74D-3791-4AC6-8451-F10DBCCCDD9A}" type="slidenum">
              <a:rPr lang="en-US">
                <a:solidFill>
                  <a:prstClr val="black"/>
                </a:solidFill>
              </a:rPr>
              <a:pPr defTabSz="465887">
                <a:defRPr/>
              </a:pPr>
              <a:t>4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406400" y="696913"/>
            <a:ext cx="61976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defTabSz="465887">
              <a:defRPr/>
            </a:pPr>
            <a:fld id="{0CA7B74D-3791-4AC6-8451-F10DBCCCDD9A}" type="slidenum">
              <a:rPr lang="en-US">
                <a:solidFill>
                  <a:prstClr val="black"/>
                </a:solidFill>
              </a:rPr>
              <a:pPr defTabSz="465887">
                <a:defRPr/>
              </a:pPr>
              <a:t>5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406400" y="696913"/>
            <a:ext cx="61976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defTabSz="465887">
              <a:defRPr/>
            </a:pPr>
            <a:fld id="{0CA7B74D-3791-4AC6-8451-F10DBCCCDD9A}" type="slidenum">
              <a:rPr lang="en-US">
                <a:solidFill>
                  <a:prstClr val="black"/>
                </a:solidFill>
              </a:rPr>
              <a:pPr defTabSz="465887">
                <a:defRPr/>
              </a:pPr>
              <a:t>6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DA1ED8E-AC55-4B4E-9CC7-78DC6D689357}" type="datetime1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C84DBB8-A4DE-461B-94B8-615F91BAA827}" type="datetime1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A652D94-93F4-40A0-A26F-E9339256BCDC}" type="datetime1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83AF853-CA5D-49CE-8306-5FF4F9CF3EA9}" type="datetime1">
              <a:rPr lang="en-US" smtClean="0"/>
              <a:t>4/28/2026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B0459D5-72A5-45C4-B16A-D14299DDD578}" type="datetime1">
              <a:rPr lang="en-US" smtClean="0"/>
              <a:t>4/28/2026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3CBC97C-F471-4420-A42B-A46F686811FA}" type="datetime1">
              <a:rPr lang="en-US" smtClean="0"/>
              <a:t>4/28/2026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B53512D-D909-4AE0-9AB0-7D2DC5C52581}" type="datetime1">
              <a:rPr lang="en-US" smtClean="0"/>
              <a:t>4/28/2026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0D1FAD0-6C25-4B8B-89A5-E66A843CD8CF}" type="datetime1">
              <a:rPr lang="en-US" smtClean="0"/>
              <a:t>4/28/2026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F4C1BB0-3D5C-4E9C-9029-F00452C56F2B}" type="datetime1">
              <a:rPr lang="en-US" smtClean="0"/>
              <a:t>4/28/2026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EF5D4A-3B8A-4F73-B4D0-567E8A0E3EF9}" type="datetime1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522BEE9E-DEC9-4ACF-AAAA-45C205EB7BF6}" type="datetime1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3FD00B4C-429A-4716-95AB-FD28B9D579F9}" type="datetime1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hyperlink" Target="https://about.bnef.com/electric-vehicle-outlook/" TargetMode="External"/><Relationship Id="rId3" Type="http://schemas.openxmlformats.org/officeDocument/2006/relationships/image" Target="../media/image1.svg"/><Relationship Id="rId7" Type="http://schemas.openxmlformats.org/officeDocument/2006/relationships/hyperlink" Target="https://www.niti.gov.in/sites/default/files/2025-08/Electric-Vehicles-WEB-LOW-Report.pdf?utm_source=chatgpt.com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Relationship Id="rId9" Type="http://schemas.openxmlformats.org/officeDocument/2006/relationships/hyperlink" Target="https://www.siam.in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>
            <a:extLst>
              <a:ext uri="{FF2B5EF4-FFF2-40B4-BE49-F238E27FC236}">
                <a16:creationId xmlns:a16="http://schemas.microsoft.com/office/drawing/2014/main" id="{232C865B-1873-1251-D238-85D1633DFA2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737600" y="350906"/>
            <a:ext cx="3114121" cy="462910"/>
          </a:xfrm>
          <a:prstGeom prst="rect">
            <a:avLst/>
          </a:prstGeom>
        </p:spPr>
      </p:pic>
      <p:sp>
        <p:nvSpPr>
          <p:cNvPr id="7" name="Title 7">
            <a:extLst>
              <a:ext uri="{FF2B5EF4-FFF2-40B4-BE49-F238E27FC236}">
                <a16:creationId xmlns:a16="http://schemas.microsoft.com/office/drawing/2014/main" id="{68613530-5A0D-67F2-800D-81EC294AC828}"/>
              </a:ext>
            </a:extLst>
          </p:cNvPr>
          <p:cNvSpPr txBox="1">
            <a:spLocks/>
          </p:cNvSpPr>
          <p:nvPr/>
        </p:nvSpPr>
        <p:spPr bwMode="auto">
          <a:xfrm>
            <a:off x="-317976" y="231881"/>
            <a:ext cx="7477759" cy="15856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TradeGothic"/>
                <a:ea typeface="ＭＳ Ｐゴシック" charset="0"/>
                <a:cs typeface="ＭＳ Ｐゴシック" charset="0"/>
              </a:defRPr>
            </a:lvl1pPr>
            <a:lvl2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2pPr>
            <a:lvl3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3pPr>
            <a:lvl4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4pPr>
            <a:lvl5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5pPr>
            <a:lvl6pPr marL="4572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6pPr>
            <a:lvl7pPr marL="9144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7pPr>
            <a:lvl8pPr marL="13716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8pPr>
            <a:lvl9pPr marL="18288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9pPr>
          </a:lstStyle>
          <a:p>
            <a:r>
              <a:rPr lang="en-US" sz="4000" b="1" dirty="0">
                <a:solidFill>
                  <a:srgbClr val="FF0000"/>
                </a:solidFill>
                <a:latin typeface="Garamond" panose="02020404030301010803" pitchFamily="18" charset="0"/>
              </a:rPr>
              <a:t>BGI HACKATHON 2026</a:t>
            </a:r>
            <a:endParaRPr lang="en-IN" sz="4000" b="1" dirty="0">
              <a:solidFill>
                <a:srgbClr val="FF0000"/>
              </a:solidFill>
              <a:latin typeface="Garamond" panose="02020404030301010803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789BB7C-1701-4B66-5939-CB68531A283E}"/>
              </a:ext>
            </a:extLst>
          </p:cNvPr>
          <p:cNvSpPr txBox="1"/>
          <p:nvPr/>
        </p:nvSpPr>
        <p:spPr>
          <a:xfrm>
            <a:off x="557630" y="1537281"/>
            <a:ext cx="746373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IDEA SUBMISSION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CB0B01F-242C-918F-35F7-9FFBFD5FF3EC}"/>
              </a:ext>
            </a:extLst>
          </p:cNvPr>
          <p:cNvSpPr txBox="1"/>
          <p:nvPr/>
        </p:nvSpPr>
        <p:spPr>
          <a:xfrm>
            <a:off x="633743" y="2401927"/>
            <a:ext cx="10948657" cy="40626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Theme-</a:t>
            </a:r>
            <a:r>
              <a:rPr lang="en-IN" sz="2400" b="1" dirty="0"/>
              <a:t>Smart Mobility, EVs &amp; Logistics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–</a:t>
            </a:r>
            <a:r>
              <a:rPr lang="en-IN" sz="2000" b="1" dirty="0"/>
              <a:t>BT2P2</a:t>
            </a:r>
            <a:endParaRPr 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Title-EV Charging Station Locator &amp; Slot Booking System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Category- Software(primary)/Hardware(optional)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Team ID-833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Team Name (Registered on portal) -</a:t>
            </a:r>
            <a:r>
              <a:rPr lang="en-US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CivicShield</a:t>
            </a:r>
            <a:endParaRPr lang="en-IN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63984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0" y="746623"/>
            <a:ext cx="10972800" cy="1143000"/>
          </a:xfrm>
        </p:spPr>
        <p:txBody>
          <a:bodyPr/>
          <a:lstStyle/>
          <a:p>
            <a:pPr eaLnBrk="1" hangingPunct="1"/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endParaRPr lang="en-US" sz="3600" b="1" dirty="0">
              <a:latin typeface="Times New Roman" panose="02020603050405020304" pitchFamily="18" charset="0"/>
              <a:ea typeface="ＭＳ Ｐゴシック" pitchFamily="1" charset="-128"/>
              <a:cs typeface="Times New Roman" panose="02020603050405020304" pitchFamily="18" charset="0"/>
            </a:endParaRP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3C59FA8E-7E8F-E597-47EB-6D67E264C71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934178" y="350906"/>
            <a:ext cx="4093699" cy="647900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smtClean="0"/>
              <a:pPr/>
              <a:t>2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EFF4172-38F3-967F-5CE9-D7FE9FBE11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1597" y="1124495"/>
            <a:ext cx="11688806" cy="99073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8F4ADE2-C0D7-FF07-E125-F0EE5A417D8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1820299"/>
            <a:ext cx="6179764" cy="5313229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BE36FF0E-21FC-D52F-5EBE-06C21743EA3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0" y="2240922"/>
            <a:ext cx="5931877" cy="448055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 flipV="1">
            <a:off x="1123728" y="1961536"/>
            <a:ext cx="5257407" cy="1774722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SOLUTION APPROACH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C289B050-2043-AC61-B89A-ED0C66A1307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482818" y="350906"/>
            <a:ext cx="3530991" cy="608634"/>
          </a:xfrm>
          <a:prstGeom prst="rect">
            <a:avLst/>
          </a:prstGeom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smtClean="0"/>
              <a:pPr/>
              <a:t>3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480BE3F-897B-12AD-34D8-7FB3A6F1D2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3491" y="1968025"/>
            <a:ext cx="5300610" cy="405703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1A8C498-50E6-F091-6A97-33C93282770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3491" y="1113102"/>
            <a:ext cx="11765017" cy="67636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EAF5609-5BB2-DE60-A0A4-B5E139F37DE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24338" y="1789471"/>
            <a:ext cx="5384206" cy="4566882"/>
          </a:xfrm>
          <a:prstGeom prst="rect">
            <a:avLst/>
          </a:prstGeom>
        </p:spPr>
      </p:pic>
      <p:sp>
        <p:nvSpPr>
          <p:cNvPr id="14" name="Text 75">
            <a:extLst>
              <a:ext uri="{FF2B5EF4-FFF2-40B4-BE49-F238E27FC236}">
                <a16:creationId xmlns:a16="http://schemas.microsoft.com/office/drawing/2014/main" id="{F937CE3C-1CF2-401D-2DE6-FDD233EC0412}"/>
              </a:ext>
            </a:extLst>
          </p:cNvPr>
          <p:cNvSpPr/>
          <p:nvPr/>
        </p:nvSpPr>
        <p:spPr>
          <a:xfrm>
            <a:off x="383456" y="6013453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0891B2"/>
                </a:solidFill>
              </a:rPr>
              <a:t>KEY TECHNICAL DECISIONS</a:t>
            </a:r>
            <a:endParaRPr lang="en-US" sz="850" dirty="0"/>
          </a:p>
        </p:txBody>
      </p:sp>
      <p:pic>
        <p:nvPicPr>
          <p:cNvPr id="15" name="Image 0" descr="preencoded.png">
            <a:extLst>
              <a:ext uri="{FF2B5EF4-FFF2-40B4-BE49-F238E27FC236}">
                <a16:creationId xmlns:a16="http://schemas.microsoft.com/office/drawing/2014/main" id="{499A15E7-0D22-725D-430D-14D9BB2F98C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92608" y="6294358"/>
            <a:ext cx="146304" cy="146304"/>
          </a:xfrm>
          <a:prstGeom prst="rect">
            <a:avLst/>
          </a:prstGeom>
        </p:spPr>
      </p:pic>
      <p:sp>
        <p:nvSpPr>
          <p:cNvPr id="16" name="Text 76">
            <a:extLst>
              <a:ext uri="{FF2B5EF4-FFF2-40B4-BE49-F238E27FC236}">
                <a16:creationId xmlns:a16="http://schemas.microsoft.com/office/drawing/2014/main" id="{276BF776-645B-E4BE-3FA4-279B99632E5E}"/>
              </a:ext>
            </a:extLst>
          </p:cNvPr>
          <p:cNvSpPr/>
          <p:nvPr/>
        </p:nvSpPr>
        <p:spPr>
          <a:xfrm>
            <a:off x="493776" y="6303502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</a:rPr>
              <a:t>Redis slot-lock (3-min optimistic lock prevents double-booking)</a:t>
            </a:r>
            <a:endParaRPr lang="en-US" sz="750" dirty="0"/>
          </a:p>
        </p:txBody>
      </p:sp>
      <p:pic>
        <p:nvPicPr>
          <p:cNvPr id="17" name="Image 1" descr="preencoded.png">
            <a:extLst>
              <a:ext uri="{FF2B5EF4-FFF2-40B4-BE49-F238E27FC236}">
                <a16:creationId xmlns:a16="http://schemas.microsoft.com/office/drawing/2014/main" id="{6C6E8FA7-F164-BCD0-B519-7F176FF605C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81728" y="6294358"/>
            <a:ext cx="146304" cy="146304"/>
          </a:xfrm>
          <a:prstGeom prst="rect">
            <a:avLst/>
          </a:prstGeom>
        </p:spPr>
      </p:pic>
      <p:sp>
        <p:nvSpPr>
          <p:cNvPr id="18" name="Text 77">
            <a:extLst>
              <a:ext uri="{FF2B5EF4-FFF2-40B4-BE49-F238E27FC236}">
                <a16:creationId xmlns:a16="http://schemas.microsoft.com/office/drawing/2014/main" id="{B95C219F-609D-2B3A-63EF-001F0A820F92}"/>
              </a:ext>
            </a:extLst>
          </p:cNvPr>
          <p:cNvSpPr/>
          <p:nvPr/>
        </p:nvSpPr>
        <p:spPr>
          <a:xfrm>
            <a:off x="4882896" y="6303502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</a:rPr>
              <a:t>PostGIS ST_DWithin for fast geo-radius queries</a:t>
            </a:r>
            <a:endParaRPr lang="en-US" sz="750" dirty="0"/>
          </a:p>
        </p:txBody>
      </p:sp>
      <p:pic>
        <p:nvPicPr>
          <p:cNvPr id="19" name="Image 2" descr="preencoded.png">
            <a:extLst>
              <a:ext uri="{FF2B5EF4-FFF2-40B4-BE49-F238E27FC236}">
                <a16:creationId xmlns:a16="http://schemas.microsoft.com/office/drawing/2014/main" id="{86FE23AB-DA3F-B487-5F50-7D2C685C408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92608" y="6495526"/>
            <a:ext cx="146304" cy="146304"/>
          </a:xfrm>
          <a:prstGeom prst="rect">
            <a:avLst/>
          </a:prstGeom>
        </p:spPr>
      </p:pic>
      <p:pic>
        <p:nvPicPr>
          <p:cNvPr id="20" name="Image 3" descr="preencoded.png">
            <a:extLst>
              <a:ext uri="{FF2B5EF4-FFF2-40B4-BE49-F238E27FC236}">
                <a16:creationId xmlns:a16="http://schemas.microsoft.com/office/drawing/2014/main" id="{088F65EC-72CC-34AE-27B6-4AA3ABC3365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81728" y="6495526"/>
            <a:ext cx="146304" cy="146304"/>
          </a:xfrm>
          <a:prstGeom prst="rect">
            <a:avLst/>
          </a:prstGeom>
        </p:spPr>
      </p:pic>
      <p:sp>
        <p:nvSpPr>
          <p:cNvPr id="22" name="Text 78">
            <a:extLst>
              <a:ext uri="{FF2B5EF4-FFF2-40B4-BE49-F238E27FC236}">
                <a16:creationId xmlns:a16="http://schemas.microsoft.com/office/drawing/2014/main" id="{7DCC1889-1B31-F74A-9865-A82729E446FB}"/>
              </a:ext>
            </a:extLst>
          </p:cNvPr>
          <p:cNvSpPr/>
          <p:nvPr/>
        </p:nvSpPr>
        <p:spPr>
          <a:xfrm>
            <a:off x="493777" y="6280355"/>
            <a:ext cx="4446796" cy="5776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</a:rPr>
              <a:t>Prophet ML for demand time-series forecasting</a:t>
            </a:r>
            <a:endParaRPr lang="en-US" sz="75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0B06FC6-F879-0F20-3B7B-FA6D6E94F7AB}"/>
              </a:ext>
            </a:extLst>
          </p:cNvPr>
          <p:cNvSpPr txBox="1"/>
          <p:nvPr/>
        </p:nvSpPr>
        <p:spPr>
          <a:xfrm>
            <a:off x="4882896" y="6478964"/>
            <a:ext cx="609600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</a:rPr>
              <a:t>Socket.io rooms for per-station real-time updates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-476906" y="-884903"/>
            <a:ext cx="280261" cy="393290"/>
          </a:xfrm>
        </p:spPr>
        <p:txBody>
          <a:bodyPr/>
          <a:lstStyle/>
          <a:p>
            <a:pPr eaLnBrk="1" hangingPunct="1"/>
            <a:endParaRPr lang="en-US" sz="3600" b="1" dirty="0">
              <a:latin typeface="Times New Roman" panose="02020603050405020304" pitchFamily="18" charset="0"/>
              <a:ea typeface="ＭＳ Ｐゴシック" pitchFamily="1" charset="-128"/>
              <a:cs typeface="Times New Roman" panose="02020603050405020304" pitchFamily="18" charset="0"/>
            </a:endParaRP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7DF00B13-7184-6E23-3D82-8AEEB33D9AC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737600" y="350906"/>
            <a:ext cx="3114121" cy="462910"/>
          </a:xfrm>
          <a:prstGeom prst="rect">
            <a:avLst/>
          </a:prstGeom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smtClean="0"/>
              <a:pPr/>
              <a:t>4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E798302-1FBE-4E19-1E15-67A041AA080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9515" y="955686"/>
            <a:ext cx="11517332" cy="58110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9AEA7B7-4C03-755C-8C90-70AAF58421C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9515" y="1838255"/>
            <a:ext cx="5474872" cy="451809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8B3ADAF-8C46-8F97-F329-A4EB7EEC5C5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43573" y="1465007"/>
            <a:ext cx="6569769" cy="55847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EEC10E74-6A4D-C182-6A00-713CC114073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737600" y="350906"/>
            <a:ext cx="3114121" cy="462910"/>
          </a:xfrm>
          <a:prstGeom prst="rect">
            <a:avLst/>
          </a:prstGeom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smtClean="0"/>
              <a:pPr/>
              <a:t>5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9360434-05B2-4DC4-C0BC-EE8480A13A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2968" y="931258"/>
            <a:ext cx="11488753" cy="59063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2D2CC86-C64D-D712-0EEA-FED46692D4E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5303" y="1639332"/>
            <a:ext cx="11916697" cy="116231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70DAA90-4CDC-6787-D370-A191B6614AD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5303" y="2988462"/>
            <a:ext cx="5516722" cy="363058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8BFD7DF-A9A9-9FC2-B201-54ACD745928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93932" y="2555842"/>
            <a:ext cx="5149634" cy="44606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823B0F35-F242-223B-4CC1-9E972757D78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737600" y="350906"/>
            <a:ext cx="3114121" cy="462910"/>
          </a:xfrm>
          <a:prstGeom prst="rect">
            <a:avLst/>
          </a:prstGeom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5045862" y="6100989"/>
            <a:ext cx="2844800" cy="365125"/>
          </a:xfrm>
        </p:spPr>
        <p:txBody>
          <a:bodyPr/>
          <a:lstStyle/>
          <a:p>
            <a:fld id="{677C3CE7-23F7-4828-823C-E0205DF2CF97}" type="slidenum">
              <a:rPr lang="en-US" smtClean="0"/>
              <a:pPr/>
              <a:t>6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BD04D08-8B57-B0B7-C90B-7A02B79CDE7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9675" y="956298"/>
            <a:ext cx="11812649" cy="61921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CDB3494-E813-506F-C656-ABA08F63832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1435510"/>
            <a:ext cx="5723740" cy="542249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66221A8-BDC3-EC72-0B85-7B768AB9898B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b="29133"/>
          <a:stretch>
            <a:fillRect/>
          </a:stretch>
        </p:blipFill>
        <p:spPr>
          <a:xfrm>
            <a:off x="6426756" y="3250167"/>
            <a:ext cx="4872551" cy="311405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89D6D10-B999-BF96-DE16-F584DA627CB2}"/>
              </a:ext>
            </a:extLst>
          </p:cNvPr>
          <p:cNvSpPr txBox="1"/>
          <p:nvPr/>
        </p:nvSpPr>
        <p:spPr>
          <a:xfrm>
            <a:off x="6590865" y="1717991"/>
            <a:ext cx="4536000" cy="1323439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2000" b="1" dirty="0" err="1">
                <a:solidFill>
                  <a:srgbClr val="FFC000"/>
                </a:solidFill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Reseach</a:t>
            </a:r>
            <a:r>
              <a:rPr lang="en-IN" sz="2000" b="1" dirty="0">
                <a:solidFill>
                  <a:srgbClr val="FFC000"/>
                </a:solidFill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and References links</a:t>
            </a:r>
            <a:br>
              <a:rPr lang="en-IN" sz="2000" b="1" dirty="0">
                <a:solidFill>
                  <a:srgbClr val="FFC000"/>
                </a:solidFill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</a:br>
            <a:r>
              <a:rPr lang="en-IN" sz="2000" b="1" dirty="0">
                <a:solidFill>
                  <a:srgbClr val="FFC000"/>
                </a:solidFill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NITI Aayog EV Report (PDF)</a:t>
            </a:r>
            <a:br>
              <a:rPr lang="en-IN" sz="2000" b="1" dirty="0">
                <a:solidFill>
                  <a:srgbClr val="FFC000"/>
                </a:solidFill>
              </a:rPr>
            </a:br>
            <a:r>
              <a:rPr lang="en-IN" sz="2000" b="1" dirty="0" err="1">
                <a:solidFill>
                  <a:srgbClr val="FFC000"/>
                </a:solidFill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BloombergNEF</a:t>
            </a:r>
            <a:r>
              <a:rPr lang="en-IN" sz="2000" b="1" dirty="0">
                <a:solidFill>
                  <a:srgbClr val="FFC000"/>
                </a:solidFill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EV Outlook Report</a:t>
            </a:r>
            <a:br>
              <a:rPr lang="en-IN" sz="2000" b="1" dirty="0">
                <a:solidFill>
                  <a:srgbClr val="FFC000"/>
                </a:solidFill>
              </a:rPr>
            </a:br>
            <a:r>
              <a:rPr lang="en-IN" sz="2000" b="1" dirty="0">
                <a:solidFill>
                  <a:srgbClr val="FFC000"/>
                </a:solidFill>
                <a:hlinkClick r:id="rId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SIAM EV Industry Data (India)</a:t>
            </a:r>
            <a:endParaRPr lang="en-IN" sz="2000" b="1" dirty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7947</TotalTime>
  <Words>122</Words>
  <Application>Microsoft Office PowerPoint</Application>
  <PresentationFormat>Widescreen</PresentationFormat>
  <Paragraphs>28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ＭＳ Ｐゴシック</vt:lpstr>
      <vt:lpstr>Arial</vt:lpstr>
      <vt:lpstr>Calibri</vt:lpstr>
      <vt:lpstr>Garamond</vt:lpstr>
      <vt:lpstr>Times New Roman</vt:lpstr>
      <vt:lpstr>TradeGothic</vt:lpstr>
      <vt:lpstr>Office Theme</vt:lpstr>
      <vt:lpstr>PowerPoint Presentation</vt:lpstr>
      <vt:lpstr> </vt:lpstr>
      <vt:lpstr>SOLUTION APPROACH</vt:lpstr>
      <vt:lpstr>PowerPoint Presentation</vt:lpstr>
      <vt:lpstr>PowerPoint Presentation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paras gupta</cp:lastModifiedBy>
  <cp:revision>167</cp:revision>
  <cp:lastPrinted>2026-03-25T11:02:59Z</cp:lastPrinted>
  <dcterms:created xsi:type="dcterms:W3CDTF">2013-12-12T18:46:50Z</dcterms:created>
  <dcterms:modified xsi:type="dcterms:W3CDTF">2026-04-27T21:53:58Z</dcterms:modified>
  <cp:category/>
</cp:coreProperties>
</file>